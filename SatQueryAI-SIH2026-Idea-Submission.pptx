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sz="1700" b="0">
                <a:latin typeface="Arial"/>
              </a:rPr>
              <a:t>26167</a:t>
            </a:r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sz="1300" b="0">
                <a:latin typeface="Arial"/>
              </a:rPr>
              <a:t>SatQuery AI: An Interactive Vision-Language Assistant for Multimodal Remote Sensing Image Analysis through Text Queries</a:t>
            </a:r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sz="1700" b="0">
                <a:latin typeface="Arial"/>
              </a:rPr>
              <a:t>Space Technology</a:t>
            </a:r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sz="1700" b="0">
                <a:latin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sz="1700" b="0">
                <a:latin typeface="Arial"/>
              </a:rPr>
              <a:t>Not assigned yet</a:t>
            </a:r>
          </a:p>
          <a:p>
            <a:pPr marL="285750" indent="-285750" algn="just">
              <a:lnSpc>
                <a:spcPct val="2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sz="1700" b="0">
                <a:latin typeface="Arial"/>
              </a:rPr>
              <a:t>Oryn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SatQuery AI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>
                <a:latin typeface="Arial"/>
              </a:rPr>
              <a:t>Oryn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5760720" y="1188720"/>
            <a:ext cx="7315" cy="111556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365760" y="2359152"/>
            <a:ext cx="11475719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65760" y="1463040"/>
            <a:ext cx="5257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Satellite imagery is still read by hand.</a:t>
            </a:r>
            <a:r>
              <a:rPr sz="1150" b="0">
                <a:solidFill>
                  <a:srgbClr val="000000"/>
                </a:solidFill>
                <a:latin typeface="Arial"/>
              </a:rPr>
              <a:t> An analyst with a Cartosat-2S optical or RISAT SAR scene must open a GIS desktop and interpret it manually. Generic AI models cannot help: they </a:t>
            </a:r>
            <a:r>
              <a:rPr sz="1150" b="1">
                <a:solidFill>
                  <a:srgbClr val="000000"/>
                </a:solidFill>
                <a:latin typeface="Arial"/>
              </a:rPr>
              <a:t>hallucinate on nadir imagery, cannot read multi-band GeoTIFF, and are blind to SAR backscatter</a:t>
            </a:r>
            <a:r>
              <a:rPr sz="11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98932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Our Idea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989320" y="1463040"/>
            <a:ext cx="5852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SatQuery AI</a:t>
            </a:r>
            <a:r>
              <a:rPr sz="1150" b="0">
                <a:solidFill>
                  <a:srgbClr val="000000"/>
                </a:solidFill>
                <a:latin typeface="Arial"/>
              </a:rPr>
              <a:t> answers plain-English questions about satellite imagery - a single scene, a </a:t>
            </a:r>
            <a:r>
              <a:rPr sz="1150" b="1">
                <a:solidFill>
                  <a:srgbClr val="000000"/>
                </a:solidFill>
                <a:latin typeface="Arial"/>
              </a:rPr>
              <a:t>before-and-after pair</a:t>
            </a:r>
            <a:r>
              <a:rPr sz="1150" b="0">
                <a:solidFill>
                  <a:srgbClr val="000000"/>
                </a:solidFill>
                <a:latin typeface="Arial"/>
              </a:rPr>
              <a:t>, or a co-registered </a:t>
            </a:r>
            <a:r>
              <a:rPr sz="1150" b="1">
                <a:solidFill>
                  <a:srgbClr val="000000"/>
                </a:solidFill>
                <a:latin typeface="Arial"/>
              </a:rPr>
              <a:t>optical + SAR pair</a:t>
            </a:r>
            <a:r>
              <a:rPr sz="1150" b="0">
                <a:solidFill>
                  <a:srgbClr val="000000"/>
                </a:solidFill>
                <a:latin typeface="Arial"/>
              </a:rPr>
              <a:t>. An agentic controller routes each query to remote-sensing-adapted models and returns the answer with an </a:t>
            </a:r>
            <a:r>
              <a:rPr sz="1150" b="1">
                <a:solidFill>
                  <a:srgbClr val="000000"/>
                </a:solidFill>
                <a:latin typeface="Arial"/>
              </a:rPr>
              <a:t>auditable execution trace.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65760" y="24505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65760" y="2761488"/>
            <a:ext cx="3794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An agentic controller </a:t>
            </a:r>
            <a:r>
              <a:rPr sz="1050" b="0">
                <a:solidFill>
                  <a:srgbClr val="000000"/>
                </a:solidFill>
                <a:latin typeface="Arial"/>
              </a:rPr>
              <a:t>interprets the query, classifies the task, validates the images, selects models from a typed registry, executes them, fuses text with spatial output and scores confidence.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Remote-sensing adaptation: </a:t>
            </a:r>
            <a:r>
              <a:rPr sz="1050" b="0">
                <a:solidFill>
                  <a:srgbClr val="000000"/>
                </a:solidFill>
                <a:latin typeface="Arial"/>
              </a:rPr>
              <a:t>a 12-channel encoder fine-tuned on BigEarthNet consumes 10 optical and 2 SAR bands together, so fusion is learned, not stapled on afterwards.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Compositional change analysis: </a:t>
            </a:r>
            <a:r>
              <a:rPr sz="1050" b="0">
                <a:solidFill>
                  <a:srgbClr val="000000"/>
                </a:solidFill>
                <a:latin typeface="Arial"/>
              </a:rPr>
              <a:t>a siamese detector produces a change mask, statistics are derived from it, and the language model verbalises them - every step is auditable.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Geospatial correctness first: </a:t>
            </a:r>
            <a:r>
              <a:rPr sz="1050" b="0">
                <a:solidFill>
                  <a:srgbClr val="000000"/>
                </a:solidFill>
                <a:latin typeface="Arial"/>
              </a:rPr>
              <a:t>CRS, ground sample distance and sub-pixel grid alignment are verified before any cross-modal claim.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70832" y="2761488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D"/>
                </a:solidFill>
                <a:latin typeface="Arial"/>
              </a:rPr>
              <a:t>HOW A QUERY IS ANSWERED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370832" y="3035808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"What changed here?"  +  two GeoTIFFs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6066129" y="3328416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Isosceles Triangle 15372"/>
          <p:cNvSpPr/>
          <p:nvPr/>
        </p:nvSpPr>
        <p:spPr>
          <a:xfrm rot="10800000">
            <a:off x="6025896" y="3374136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4370832" y="3438144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INGEST - CRS, bands, GSD, modality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6066129" y="3730752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Isosceles Triangle 15375"/>
          <p:cNvSpPr/>
          <p:nvPr/>
        </p:nvSpPr>
        <p:spPr>
          <a:xfrm rot="10800000">
            <a:off x="6025896" y="3776472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4370832" y="3840480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VALIDATE - format, overlap, grid alignment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6066129" y="4133088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Isosceles Triangle 15378"/>
          <p:cNvSpPr/>
          <p:nvPr/>
        </p:nvSpPr>
        <p:spPr>
          <a:xfrm rot="10800000">
            <a:off x="6025896" y="4178808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4370832" y="4242816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CLASSIFY task  →  SELECT model by rule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6066129" y="4535424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Isosceles Triangle 15381"/>
          <p:cNvSpPr/>
          <p:nvPr/>
        </p:nvSpPr>
        <p:spPr>
          <a:xfrm rot="10800000">
            <a:off x="6025896" y="4581144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4370832" y="4645152"/>
            <a:ext cx="3401568" cy="694944"/>
          </a:xfrm>
          <a:prstGeom prst="rect">
            <a:avLst/>
          </a:prstGeom>
          <a:solidFill>
            <a:srgbClr val="FBE5D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MODEL REGISTRY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425696" y="4846320"/>
            <a:ext cx="106070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Optical+SAR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Encoder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5541264" y="4846320"/>
            <a:ext cx="106070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Change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Detector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656832" y="4846320"/>
            <a:ext cx="1060704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RS Vision-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Language Model</a:t>
            </a:r>
          </a:p>
        </p:txBody>
      </p:sp>
      <p:sp>
        <p:nvSpPr>
          <p:cNvPr id="15387" name="Rectangle 15386"/>
          <p:cNvSpPr/>
          <p:nvPr/>
        </p:nvSpPr>
        <p:spPr>
          <a:xfrm>
            <a:off x="6066129" y="5340096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Isosceles Triangle 15387"/>
          <p:cNvSpPr/>
          <p:nvPr/>
        </p:nvSpPr>
        <p:spPr>
          <a:xfrm rot="10800000">
            <a:off x="6025896" y="5385816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4370832" y="5449824"/>
            <a:ext cx="3401568" cy="27432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FUSE text + spatial  →  CONFIDENCE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6066129" y="5724144"/>
            <a:ext cx="10972" cy="6400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Isosceles Triangle 15390"/>
          <p:cNvSpPr/>
          <p:nvPr/>
        </p:nvSpPr>
        <p:spPr>
          <a:xfrm rot="10800000">
            <a:off x="6025896" y="5769864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4370832" y="5833872"/>
            <a:ext cx="3401568" cy="292608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1">
                <a:solidFill>
                  <a:srgbClr val="000000"/>
                </a:solidFill>
                <a:latin typeface="Arial"/>
              </a:rPr>
              <a:t>ANSWER  +  AUDITABLE TRACE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001000" y="24505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001000" y="2761488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Deterministic model selection. </a:t>
            </a:r>
            <a:r>
              <a:rPr sz="1050" b="0">
                <a:solidFill>
                  <a:srgbClr val="000000"/>
                </a:solidFill>
                <a:latin typeface="Arial"/>
              </a:rPr>
              <a:t>The language model classifies the task; typed registry rules choose the model, so the trace is reproducible - not a chat transcript.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One fused optical+SAR encoder</a:t>
            </a:r>
            <a:r>
              <a:rPr sz="1050" b="0">
                <a:solidFill>
                  <a:srgbClr val="000000"/>
                </a:solidFill>
                <a:latin typeface="Arial"/>
              </a:rPr>
              <a:t>, trained on co-registered Sentinel-1/2 pairs and proven by a three-way ablation where fused beats either sensor alone.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Co-registration is verified, not assumed. </a:t>
            </a:r>
            <a:r>
              <a:rPr sz="1050" b="0">
                <a:solidFill>
                  <a:srgbClr val="000000"/>
                </a:solidFill>
                <a:latin typeface="Arial"/>
              </a:rPr>
              <a:t>Sub-pixel grid alignment is checked, not merely footprint overlap.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Confidence as a named breakdown</a:t>
            </a:r>
            <a:r>
              <a:rPr sz="1050" b="0">
                <a:solidFill>
                  <a:srgbClr val="000000"/>
                </a:solidFill>
                <a:latin typeface="Arial"/>
              </a:rPr>
              <a:t>, including agreement between the language model and the specialist - disagreement visibly lowers the score.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F4E7D"/>
                </a:solidFill>
                <a:latin typeface="Arial"/>
              </a:rPr>
              <a:t>•  </a:t>
            </a:r>
            <a:r>
              <a:rPr sz="1050" b="1">
                <a:solidFill>
                  <a:srgbClr val="000000"/>
                </a:solidFill>
                <a:latin typeface="Arial"/>
              </a:rPr>
              <a:t>Sensor-correct preprocessing. </a:t>
            </a:r>
            <a:r>
              <a:rPr sz="1050" b="0">
                <a:solidFill>
                  <a:srgbClr val="000000"/>
                </a:solidFill>
                <a:latin typeface="Arial"/>
              </a:rPr>
              <a:t>SAR is converted to decibels and percentile-clipped, so the model sees terrain rather than a black frame.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>
                <a:latin typeface="Arial"/>
              </a:rPr>
              <a:t>Oryn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069080" y="1188720"/>
            <a:ext cx="7315" cy="510235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188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Technologies Used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463040"/>
            <a:ext cx="35204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Python 3.11 + FastAPI: </a:t>
            </a:r>
            <a:r>
              <a:rPr sz="950" b="0">
                <a:solidFill>
                  <a:srgbClr val="000000"/>
                </a:solidFill>
                <a:latin typeface="Arial"/>
              </a:rPr>
              <a:t>async backend with native server-sent events, so the execution trace streams as each step completes.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LangGraph: </a:t>
            </a:r>
            <a:r>
              <a:rPr sz="950" b="0">
                <a:solidFill>
                  <a:srgbClr val="000000"/>
                </a:solidFill>
                <a:latin typeface="Arial"/>
              </a:rPr>
              <a:t>typed state machine with conditional edges. Chosen over a plain agent loop because the trace needs inspectable, reproducible transitions.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rasterio + GDAL: </a:t>
            </a:r>
            <a:r>
              <a:rPr sz="950" b="0">
                <a:solidFill>
                  <a:srgbClr val="000000"/>
                </a:solidFill>
                <a:latin typeface="Arial"/>
              </a:rPr>
              <a:t>reads multi-band GeoTIFF with CRS, affine transform and nodata. Chosen over OpenCV/PIL, which discard geospatial metadata.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pyproj + Shapely: </a:t>
            </a:r>
            <a:r>
              <a:rPr sz="950" b="0">
                <a:solidFill>
                  <a:srgbClr val="000000"/>
                </a:solidFill>
                <a:latin typeface="Arial"/>
              </a:rPr>
              <a:t>projection comparison and footprint intersection for co-registration checks.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PyTorch: </a:t>
            </a:r>
            <a:r>
              <a:rPr sz="950" b="0">
                <a:solidFill>
                  <a:srgbClr val="000000"/>
                </a:solidFill>
                <a:latin typeface="Arial"/>
              </a:rPr>
              <a:t>12-channel ResNet-50 encoder fine-tuned on BigEarthNet v2.0 for 19-class land cover.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Qwen2.5-VL (RS-adapted) + LoRA: </a:t>
            </a:r>
            <a:r>
              <a:rPr sz="950" b="0">
                <a:solidFill>
                  <a:srgbClr val="000000"/>
                </a:solidFill>
                <a:latin typeface="Arial"/>
              </a:rPr>
              <a:t>3B vision-language model. Chosen over 7B because domain knowledge sits in the encoder - same answer, commodity hardware.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React + Vite: </a:t>
            </a:r>
            <a:r>
              <a:rPr sz="950" b="0">
                <a:solidFill>
                  <a:srgbClr val="000000"/>
                </a:solidFill>
                <a:latin typeface="Arial"/>
              </a:rPr>
              <a:t>live trace panel driven by the SSE stream.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Kaggle T4: </a:t>
            </a:r>
            <a:r>
              <a:rPr sz="950" b="0">
                <a:solidFill>
                  <a:srgbClr val="000000"/>
                </a:solidFill>
                <a:latin typeface="Arial"/>
              </a:rPr>
              <a:t>model adaptation runs off the demo machine entirely.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297680" y="1188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Methodology - Flow Chart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97680" y="1499616"/>
            <a:ext cx="2453640" cy="36576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Text query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842760" y="1499616"/>
            <a:ext cx="2453640" cy="36576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Optical GeoTIFF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(Cartosat-2S)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387840" y="1499616"/>
            <a:ext cx="2453640" cy="36576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SAR / second-date GeoTIFF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(RISAT)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8064093" y="1865376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Isosceles Triangle 17417"/>
          <p:cNvSpPr/>
          <p:nvPr/>
        </p:nvSpPr>
        <p:spPr>
          <a:xfrm rot="10800000">
            <a:off x="8023859" y="1965960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297680" y="2029968"/>
            <a:ext cx="7543800" cy="31089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INGEST  -  checksum, CRS, transform, bands, dtype, nodata, modality from pixels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8064093" y="2340864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Isosceles Triangle 17420"/>
          <p:cNvSpPr/>
          <p:nvPr/>
        </p:nvSpPr>
        <p:spPr>
          <a:xfrm rot="10800000">
            <a:off x="8023859" y="2441448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297680" y="2505456"/>
            <a:ext cx="7543800" cy="31089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VALIDATE  -  format, projection match, footprint overlap, GSD ratio, sub-pixel grid alignment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326880" y="2825496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00000"/>
                </a:solidFill>
                <a:latin typeface="Arial"/>
              </a:rPr>
              <a:t>fatal  →  reject with a named reason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064093" y="2816352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Isosceles Triangle 17424"/>
          <p:cNvSpPr/>
          <p:nvPr/>
        </p:nvSpPr>
        <p:spPr>
          <a:xfrm rot="10800000">
            <a:off x="8023859" y="2916936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297680" y="2980944"/>
            <a:ext cx="3726180" cy="384048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CLASSIFY TASK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(language model, structured output)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115300" y="2980944"/>
            <a:ext cx="3726180" cy="384048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PLAN - REGISTRY RESOLVER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(deterministic rules, logged rejections)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064093" y="3364992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Isosceles Triangle 17428"/>
          <p:cNvSpPr/>
          <p:nvPr/>
        </p:nvSpPr>
        <p:spPr>
          <a:xfrm rot="10800000">
            <a:off x="8023859" y="3465576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4297680" y="3529584"/>
            <a:ext cx="7543800" cy="749808"/>
          </a:xfrm>
          <a:prstGeom prst="rect">
            <a:avLst/>
          </a:prstGeom>
          <a:solidFill>
            <a:srgbClr val="FBE5D6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/>
            <a:r>
              <a:rPr sz="850" b="1">
                <a:solidFill>
                  <a:srgbClr val="000000"/>
                </a:solidFill>
                <a:latin typeface="Arial"/>
              </a:rPr>
              <a:t>EXECUTE  -  model registry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61688" y="3730752"/>
            <a:ext cx="2429256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12-channel Optical+SAR Encoder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fine-tuned on BigEarthNet v2.0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854952" y="3730752"/>
            <a:ext cx="2429256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Siamese Change Detector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mask + change statistics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348216" y="3730752"/>
            <a:ext cx="2429256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RS Vision-Language Model</a:t>
            </a:r>
          </a:p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VQA, captioning, grounding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8064093" y="4279392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Isosceles Triangle 17434"/>
          <p:cNvSpPr/>
          <p:nvPr/>
        </p:nvSpPr>
        <p:spPr>
          <a:xfrm rot="10800000">
            <a:off x="8023859" y="4379976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4297680" y="4443984"/>
            <a:ext cx="7543800" cy="310896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FUSE text + geometry   →   CONFIDENCE (input quality, task certainty, model fitness, cross-model agreement)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8064093" y="4754880"/>
            <a:ext cx="10972" cy="11887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Isosceles Triangle 17437"/>
          <p:cNvSpPr/>
          <p:nvPr/>
        </p:nvSpPr>
        <p:spPr>
          <a:xfrm rot="10800000">
            <a:off x="8023859" y="4855464"/>
            <a:ext cx="91440" cy="73152"/>
          </a:xfrm>
          <a:prstGeom prst="triangl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4297680" y="4919472"/>
            <a:ext cx="7543800" cy="329184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0" bIns="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ANSWER  +  BOX/MASK OVERLAY  +  AUDITABLE EXECUTION TRACE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297680" y="5358384"/>
            <a:ext cx="7543800" cy="914400"/>
          </a:xfrm>
          <a:prstGeom prst="rect">
            <a:avLst/>
          </a:prstGeom>
          <a:solidFill>
            <a:srgbClr val="D9E2F3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Training &amp; evaluation data: </a:t>
            </a:r>
            <a:r>
              <a:rPr sz="900" b="0">
                <a:solidFill>
                  <a:srgbClr val="000000"/>
                </a:solidFill>
                <a:latin typeface="Arial"/>
              </a:rPr>
              <a:t>BigEarthNet v2.0 (adaptation)  ·  VRSBench + RSVQA (captioning, grounding, VQA)  ·  CDVQA (change VQA)</a:t>
            </a:r>
          </a:p>
          <a:p>
            <a:r>
              <a:rPr sz="900" b="1">
                <a:solidFill>
                  <a:srgbClr val="000000"/>
                </a:solidFill>
                <a:latin typeface="Arial"/>
              </a:rPr>
              <a:t>GitHub: </a:t>
            </a:r>
            <a:r>
              <a:rPr sz="900" b="0">
                <a:solidFill>
                  <a:srgbClr val="000000"/>
                </a:solidFill>
                <a:latin typeface="Arial"/>
              </a:rPr>
              <a:t>[repository link]        </a:t>
            </a:r>
            <a:r>
              <a:rPr sz="900" b="1">
                <a:solidFill>
                  <a:srgbClr val="000000"/>
                </a:solidFill>
                <a:latin typeface="Arial"/>
              </a:rPr>
              <a:t>Demo video: </a:t>
            </a:r>
            <a:r>
              <a:rPr sz="900" b="0">
                <a:solidFill>
                  <a:srgbClr val="000000"/>
                </a:solidFill>
                <a:latin typeface="Arial"/>
              </a:rPr>
              <a:t>[video link]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>
                <a:latin typeface="Arial"/>
              </a:rPr>
              <a:t>Oryn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6108192" y="1188720"/>
            <a:ext cx="7315" cy="510235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65760" y="3712464"/>
            <a:ext cx="5696712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6153912" y="3712464"/>
            <a:ext cx="5687568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148132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Every dataset the problem statement names is publicly downloadable</a:t>
            </a:r>
            <a:r>
              <a:rPr sz="1000" b="0">
                <a:solidFill>
                  <a:srgbClr val="000000"/>
                </a:solidFill>
                <a:latin typeface="Arial"/>
              </a:rPr>
              <a:t> and licence-verified - no gated access, no institutional request.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BigEarthNet v2.0 provides 549,488 co-registered Sentinel-1/2 pairs</a:t>
            </a:r>
            <a:r>
              <a:rPr sz="1000" b="0">
                <a:solidFill>
                  <a:srgbClr val="000000"/>
                </a:solidFill>
                <a:latin typeface="Arial"/>
              </a:rPr>
              <a:t> - the only large public archive of aligned optical and radar imagery, so cross-modal adaptation needs no proprietary data.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Adaptation fits free compute. </a:t>
            </a:r>
            <a:r>
              <a:rPr sz="1000" b="0">
                <a:solidFill>
                  <a:srgbClr val="000000"/>
                </a:solidFill>
                <a:latin typeface="Arial"/>
              </a:rPr>
              <a:t>A 12-channel encoder plus LoRA trains on a free Kaggle T4 - no cluster, no procurement.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The geospatial stack installs cleanly. </a:t>
            </a:r>
            <a:r>
              <a:rPr sz="1000" b="0">
                <a:solidFill>
                  <a:srgbClr val="000000"/>
                </a:solidFill>
                <a:latin typeface="Arial"/>
              </a:rPr>
              <a:t>rasterio ships GDAL-bundled wheels, removing the usual build barrier.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Hardware-independent by design. </a:t>
            </a:r>
            <a:r>
              <a:rPr sz="1000" b="0">
                <a:solidFill>
                  <a:srgbClr val="000000"/>
                </a:solidFill>
                <a:latin typeface="Arial"/>
              </a:rPr>
              <a:t>The model layer is swappable, so the same system runs on a 4 GB laptop GPU or Apple Silicon.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36792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Commercial &amp; Operational Viability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36792" y="148132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Market validation: </a:t>
            </a:r>
            <a:r>
              <a:rPr sz="1000" b="0">
                <a:solidFill>
                  <a:srgbClr val="000000"/>
                </a:solidFill>
                <a:latin typeface="Arial"/>
              </a:rPr>
              <a:t>ISRO/NRSC's Bhoonidhi portal already disseminates open data from 47 satellites. The bottleneck is analyst time, not imagery.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Technical readiness: high. </a:t>
            </a:r>
            <a:r>
              <a:rPr sz="1000" b="0">
                <a:solidFill>
                  <a:srgbClr val="000000"/>
                </a:solidFill>
                <a:latin typeface="Arial"/>
              </a:rPr>
              <a:t>Every component has a published open-source precedent; the work is integration and adaptation, not invention.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Operational cost: low. </a:t>
            </a:r>
            <a:r>
              <a:rPr sz="1000" b="0">
                <a:solidFill>
                  <a:srgbClr val="000000"/>
                </a:solidFill>
                <a:latin typeface="Arial"/>
              </a:rPr>
              <a:t>Commodity hardware, open weights, open datasets - no per-seat licence, no GPU cluster.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Sustainable to extend: </a:t>
            </a:r>
            <a:r>
              <a:rPr sz="1000" b="0">
                <a:solidFill>
                  <a:srgbClr val="000000"/>
                </a:solidFill>
                <a:latin typeface="Arial"/>
              </a:rPr>
              <a:t>new sensors and models are added as registry configuration, not new code.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Deployment path: </a:t>
            </a:r>
            <a:r>
              <a:rPr sz="1000" b="0">
                <a:solidFill>
                  <a:srgbClr val="000000"/>
                </a:solidFill>
                <a:latin typeface="Arial"/>
              </a:rPr>
              <a:t>a self-contained web service that can sit inside an institutional network, since no imagery has to leave the premises.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803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Potential Challenges &amp;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5760" y="4096512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SAR has extreme dynamic range. </a:t>
            </a:r>
            <a:r>
              <a:rPr sz="1000" b="0">
                <a:solidFill>
                  <a:srgbClr val="000000"/>
                </a:solidFill>
                <a:latin typeface="Arial"/>
              </a:rPr>
              <a:t>A naive contrast stretch yields a near-black image, and a model will then confidently describe an empty scene.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Real ISRO scenes are not benchmark tiles. </a:t>
            </a:r>
            <a:r>
              <a:rPr sz="1000" b="0">
                <a:solidFill>
                  <a:srgbClr val="000000"/>
                </a:solidFill>
                <a:latin typeface="Arial"/>
              </a:rPr>
              <a:t>Band order, data type, nodata convention and scene size all differ from public 512-pixel datasets.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CDVQA ships question text only</a:t>
            </a:r>
            <a:r>
              <a:rPr sz="1000" b="0">
                <a:solidFill>
                  <a:srgbClr val="000000"/>
                </a:solidFill>
                <a:latin typeface="Arial"/>
              </a:rPr>
              <a:t> - the change imagery must be sourced separately from the SECOND dataset.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Generic vision-language models hallucinate</a:t>
            </a:r>
            <a:r>
              <a:rPr sz="1000" b="0">
                <a:solidFill>
                  <a:srgbClr val="000000"/>
                </a:solidFill>
                <a:latin typeface="Arial"/>
              </a:rPr>
              <a:t> on nadir imagery and cannot be trusted unsupervised.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Co-registration is easy to claim and hard to prove</a:t>
            </a:r>
            <a:r>
              <a:rPr sz="1000" b="0">
                <a:solidFill>
                  <a:srgbClr val="000000"/>
                </a:solidFill>
                <a:latin typeface="Arial"/>
              </a:rPr>
              <a:t> from footprint overlap alone.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36792" y="3803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Strategies for Overcoming Them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36792" y="4096512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Sensor-correct preprocessing: </a:t>
            </a:r>
            <a:r>
              <a:rPr sz="1000" b="0">
                <a:solidFill>
                  <a:srgbClr val="000000"/>
                </a:solidFill>
                <a:latin typeface="Arial"/>
              </a:rPr>
              <a:t>decibel conversion with 2nd/98th percentile clipping and dual-polarisation false colour, validated against real EOS-04 scenes.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Scene-scale ingestion: </a:t>
            </a:r>
            <a:r>
              <a:rPr sz="1000" b="0">
                <a:solidFill>
                  <a:srgbClr val="000000"/>
                </a:solidFill>
                <a:latin typeface="Arial"/>
              </a:rPr>
              <a:t>windowed reads and tiling, with the tiling recorded in the trace so aggregated answers stay explainable.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Mirror the change dataset early</a:t>
            </a:r>
            <a:r>
              <a:rPr sz="1000" b="0">
                <a:solidFill>
                  <a:srgbClr val="000000"/>
                </a:solidFill>
                <a:latin typeface="Arial"/>
              </a:rPr>
              <a:t> and cross-check its filenames against the question set before depending on it.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Ground every claim in a specialist model. </a:t>
            </a:r>
            <a:r>
              <a:rPr sz="1000" b="0">
                <a:solidFill>
                  <a:srgbClr val="000000"/>
                </a:solidFill>
                <a:latin typeface="Arial"/>
              </a:rPr>
              <a:t>Cross-model disagreement automatically lowers reported confidence.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Verify sub-pixel grid alignment</a:t>
            </a:r>
            <a:r>
              <a:rPr sz="1000" b="0">
                <a:solidFill>
                  <a:srgbClr val="000000"/>
                </a:solidFill>
                <a:latin typeface="Arial"/>
              </a:rPr>
              <a:t>, not just overlap, before any cross-modal answer is produced.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>
                <a:latin typeface="Arial"/>
              </a:rPr>
              <a:t>Oryn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133087" y="1188720"/>
            <a:ext cx="7315" cy="329183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8083296" y="1188720"/>
            <a:ext cx="7315" cy="3291839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65760" y="4572000"/>
            <a:ext cx="11475719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Direct Impact on Target Users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1481328"/>
            <a:ext cx="3657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ISRO and NRSC analysts: </a:t>
            </a:r>
            <a:r>
              <a:rPr sz="1000" b="0">
                <a:solidFill>
                  <a:srgbClr val="000000"/>
                </a:solidFill>
                <a:latin typeface="Arial"/>
              </a:rPr>
              <a:t>plain-English querying replaces manual scene-by-scene inspection in a GIS desktop.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Disaster response (NDRF/SDRF): </a:t>
            </a:r>
            <a:r>
              <a:rPr sz="1000" b="0">
                <a:solidFill>
                  <a:srgbClr val="000000"/>
                </a:solidFill>
                <a:latin typeface="Arial"/>
              </a:rPr>
              <a:t>rapid before-and-after assessment of flood, landslide and cyclone imagery - and because SAR sees through cloud, it works on the days optical imaging fails.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Agriculture and land records: </a:t>
            </a:r>
            <a:r>
              <a:rPr sz="1000" b="0">
                <a:solidFill>
                  <a:srgbClr val="000000"/>
                </a:solidFill>
                <a:latin typeface="Arial"/>
              </a:rPr>
              <a:t>land-cover and change queries over Cartosat scenes without requiring remote-sensing expertise.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Defence and border monitoring: </a:t>
            </a:r>
            <a:r>
              <a:rPr sz="1000" b="0">
                <a:solidFill>
                  <a:srgbClr val="000000"/>
                </a:solidFill>
                <a:latin typeface="Arial"/>
              </a:rPr>
              <a:t>combined optical and radar interpretation, with a written trace behind every conclusion.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15968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Strategic Impact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15968" y="1481328"/>
            <a:ext cx="3657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Lowers the expertise barrier</a:t>
            </a:r>
            <a:r>
              <a:rPr sz="1000" b="0">
                <a:solidFill>
                  <a:srgbClr val="000000"/>
                </a:solidFill>
                <a:latin typeface="Arial"/>
              </a:rPr>
              <a:t> to India's growing open Earth-observation archive, so more of it gets used.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Makes AI output institutionally usable. </a:t>
            </a:r>
            <a:r>
              <a:rPr sz="1000" b="0">
                <a:solidFill>
                  <a:srgbClr val="000000"/>
                </a:solidFill>
                <a:latin typeface="Arial"/>
              </a:rPr>
              <a:t>An auditable trace is what allows a model's answer to enter an official decision record - the gap that blocks AI adoption in government today.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Builds indigenous capability</a:t>
            </a:r>
            <a:r>
              <a:rPr sz="1000" b="0">
                <a:solidFill>
                  <a:srgbClr val="000000"/>
                </a:solidFill>
                <a:latin typeface="Arial"/>
              </a:rPr>
              <a:t> in remote-sensing vision-language models rather than depending on foreign general-purpose systems, aligning with Atmanirbhar Bharat.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All-weather capability. </a:t>
            </a:r>
            <a:r>
              <a:rPr sz="1000" b="0">
                <a:solidFill>
                  <a:srgbClr val="000000"/>
                </a:solidFill>
                <a:latin typeface="Arial"/>
              </a:rPr>
              <a:t>Radar interpretation keeps the system useful during monsoon and cloud cover.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266175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Economic and Social Benefits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66175" y="1481328"/>
            <a:ext cx="3657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Removes the analyst bottleneck. </a:t>
            </a:r>
            <a:r>
              <a:rPr sz="1000" b="0">
                <a:solidFill>
                  <a:srgbClr val="000000"/>
                </a:solidFill>
                <a:latin typeface="Arial"/>
              </a:rPr>
              <a:t>Imagery volume grows continuously while trained interpreters do not; natural-language querying widens who can extract value from it.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No procurement burden. </a:t>
            </a:r>
            <a:r>
              <a:rPr sz="1000" b="0">
                <a:solidFill>
                  <a:srgbClr val="000000"/>
                </a:solidFill>
                <a:latin typeface="Arial"/>
              </a:rPr>
              <a:t>Commodity hardware, open weights, open datasets - deployable without a GPU cluster or per-seat licensing.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Faster disaster assessment</a:t>
            </a:r>
            <a:r>
              <a:rPr sz="1000" b="0">
                <a:solidFill>
                  <a:srgbClr val="000000"/>
                </a:solidFill>
                <a:latin typeface="Arial"/>
              </a:rPr>
              <a:t> shortens the interval between an event and a resourcing decision.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F4E7D"/>
                </a:solidFill>
                <a:latin typeface="Arial"/>
              </a:rPr>
              <a:t>•  </a:t>
            </a:r>
            <a:r>
              <a:rPr sz="1000" b="1">
                <a:solidFill>
                  <a:srgbClr val="000000"/>
                </a:solidFill>
                <a:latin typeface="Arial"/>
              </a:rPr>
              <a:t>Data stays in-country. </a:t>
            </a:r>
            <a:r>
              <a:rPr sz="1000" b="0">
                <a:solidFill>
                  <a:srgbClr val="000000"/>
                </a:solidFill>
                <a:latin typeface="Arial"/>
              </a:rPr>
              <a:t>Self-hosted inference means sensitive imagery never leaves the institutional network.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4782312"/>
            <a:ext cx="273177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D"/>
                </a:solidFill>
                <a:latin typeface="Arial"/>
              </a:rPr>
              <a:t>47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5330952"/>
            <a:ext cx="273177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satellites already open on Bhoonidhi -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the archive this system unlocks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234689" y="4782312"/>
            <a:ext cx="273177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D"/>
                </a:solidFill>
                <a:latin typeface="Arial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34689" y="5330952"/>
            <a:ext cx="273177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sensing capabilities in one system: VQA,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captioning, change, optical+SAR fusion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03620" y="4782312"/>
            <a:ext cx="273177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D"/>
                </a:solidFill>
                <a:latin typeface="Arial"/>
              </a:rPr>
              <a:t>100%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103620" y="5330952"/>
            <a:ext cx="273177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of model choices logged with a reason -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zero opaque selections in the trace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972550" y="4782312"/>
            <a:ext cx="273177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4E7D"/>
                </a:solidFill>
                <a:latin typeface="Arial"/>
              </a:rPr>
              <a:t>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972550" y="5330952"/>
            <a:ext cx="273177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GPU clusters required to deploy -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commodity hardware, self-hosted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>
                <a:latin typeface="Arial"/>
              </a:rPr>
              <a:t>Oryn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6108192" y="1188720"/>
            <a:ext cx="7315" cy="510235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65760" y="3520440"/>
            <a:ext cx="5696712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6153912" y="3520440"/>
            <a:ext cx="5687568" cy="731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Datasets Prescribed by the Problem Statement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148132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BigEarthNet v2.0 / reBEN</a:t>
            </a:r>
            <a:r>
              <a:rPr sz="950" b="0">
                <a:solidFill>
                  <a:srgbClr val="000000"/>
                </a:solidFill>
                <a:latin typeface="Arial"/>
              </a:rPr>
              <a:t> - 549,488 co-registered Sentinel-1/2 patch pairs, 19-class CORINE labels. arXiv:2407.03653  ·  bigearth.net  ·  CDLA-Permissive-1.0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VRSBench</a:t>
            </a:r>
            <a:r>
              <a:rPr sz="950" b="0">
                <a:solidFill>
                  <a:srgbClr val="000000"/>
                </a:solidFill>
                <a:latin typeface="Arial"/>
              </a:rPr>
              <a:t> - 29,614 images with captions, object references and question-answer pairs. arXiv:2406.12384  ·  CC-BY-NC-4.0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RSVQA (Lobry et al.)</a:t>
            </a:r>
            <a:r>
              <a:rPr sz="950" b="0">
                <a:solidFill>
                  <a:srgbClr val="000000"/>
                </a:solidFill>
                <a:latin typeface="Arial"/>
              </a:rPr>
              <a:t> - low- and high-resolution remote-sensing VQA. Zenodo 6344334 / 6344367  ·  CC-BY-4.0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CDVQA (Yuan et al., IEEE TGRS 2022)</a:t>
            </a:r>
            <a:r>
              <a:rPr sz="950" b="0">
                <a:solidFill>
                  <a:srgbClr val="000000"/>
                </a:solidFill>
                <a:latin typeface="Arial"/>
              </a:rPr>
              <a:t> - change-detection VQA over bi-temporal pairs; imagery from SECOND.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36792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Existing Solutions &amp; Competitive Analysis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36792" y="148132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GeoChat (CVPR 2024)</a:t>
            </a:r>
            <a:r>
              <a:rPr sz="950" b="0">
                <a:solidFill>
                  <a:srgbClr val="000000"/>
                </a:solidFill>
                <a:latin typeface="Arial"/>
              </a:rPr>
              <a:t> - first grounded vision-language model for remote sensing; establishes that domain adaptation, not scale, drives accuracy on nadir imagery.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TEOChat (ICLR 2025)</a:t>
            </a:r>
            <a:r>
              <a:rPr sz="950" b="0">
                <a:solidFill>
                  <a:srgbClr val="000000"/>
                </a:solidFill>
                <a:latin typeface="Arial"/>
              </a:rPr>
              <a:t> - temporal Earth-observation assistant. arXiv:2410.06234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EarthDial (CVPR 2025)</a:t>
            </a:r>
            <a:r>
              <a:rPr sz="950" b="0">
                <a:solidFill>
                  <a:srgbClr val="000000"/>
                </a:solidFill>
                <a:latin typeface="Arial"/>
              </a:rPr>
              <a:t> - multi-sensory dialogue across RGB, SAR and multispectral inputs.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GeoPixel (ICML 2025)</a:t>
            </a:r>
            <a:r>
              <a:rPr sz="950" b="0">
                <a:solidFill>
                  <a:srgbClr val="000000"/>
                </a:solidFill>
                <a:latin typeface="Arial"/>
              </a:rPr>
              <a:t> - pixel-level grounding at high resolution. arXiv:2501.13925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Gap: </a:t>
            </a:r>
            <a:r>
              <a:rPr sz="950" b="0">
                <a:solidFill>
                  <a:srgbClr val="000000"/>
                </a:solidFill>
                <a:latin typeface="Arial"/>
              </a:rPr>
              <a:t>all are single monolithic models. None expose an auditable execution trace or validate co-registration before answering.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Methods &amp; Technology Benchmarking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5760" y="390448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Domain-adaptive post-training for multimodal models</a:t>
            </a:r>
            <a:r>
              <a:rPr sz="950" b="0">
                <a:solidFill>
                  <a:srgbClr val="000000"/>
                </a:solidFill>
                <a:latin typeface="Arial"/>
              </a:rPr>
              <a:t> - arXiv:2411.19930. Evidence that a small domain-adapted model outperforms a larger generic one - the basis for our 3B-plus-specialist design.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reBEN geographic split</a:t>
            </a:r>
            <a:r>
              <a:rPr sz="950" b="0">
                <a:solidFill>
                  <a:srgbClr val="000000"/>
                </a:solidFill>
                <a:latin typeface="Arial"/>
              </a:rPr>
              <a:t> - reduces spatial correlation between train and test, so reported accuracy is honest rather than inflated by neighbouring patches.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SECOND (Yang et al.)</a:t>
            </a:r>
            <a:r>
              <a:rPr sz="950" b="0">
                <a:solidFill>
                  <a:srgbClr val="000000"/>
                </a:solidFill>
                <a:latin typeface="Arial"/>
              </a:rPr>
              <a:t> - 4,662 annotated bi-temporal pairs over Hangzhou, Chengdu and Shanghai. captain-whu.github.io/SCD/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SAR radiometric practice</a:t>
            </a:r>
            <a:r>
              <a:rPr sz="950" b="0">
                <a:solidFill>
                  <a:srgbClr val="000000"/>
                </a:solidFill>
                <a:latin typeface="Arial"/>
              </a:rPr>
              <a:t> - decibel conversion with percentile clipping, standard before any model consumes backscatter.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36792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sng">
                <a:solidFill>
                  <a:srgbClr val="1F4E7D"/>
                </a:solidFill>
                <a:latin typeface="Arial"/>
              </a:rPr>
              <a:t>Operational &amp; Policy Context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36792" y="3904488"/>
            <a:ext cx="5532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Bhoonidhi (ISRO/NRSC)</a:t>
            </a:r>
            <a:r>
              <a:rPr sz="950" b="0">
                <a:solidFill>
                  <a:srgbClr val="000000"/>
                </a:solidFill>
                <a:latin typeface="Arial"/>
              </a:rPr>
              <a:t> - open dissemination of Earth-observation data from 47 satellites, including Cartosat-2S optical and EOS-04 (RISAT-1A) SAR products in GeoTIFF. bhoonidhi.nrsc.gov.in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Indian Space Policy 2023</a:t>
            </a:r>
            <a:r>
              <a:rPr sz="950" b="0">
                <a:solidFill>
                  <a:srgbClr val="000000"/>
                </a:solidFill>
                <a:latin typeface="Arial"/>
              </a:rPr>
              <a:t> - mandates open dissemination of EO data, which makes an assistant over that archive worth building now.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EOS-04 handbook (NRSC)</a:t>
            </a:r>
            <a:r>
              <a:rPr sz="950" b="0">
                <a:solidFill>
                  <a:srgbClr val="000000"/>
                </a:solidFill>
                <a:latin typeface="Arial"/>
              </a:rPr>
              <a:t> - product levels and radiometric conventions that determine correct SAR preprocessing.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1F4E7D"/>
                </a:solidFill>
                <a:latin typeface="Arial"/>
              </a:rPr>
              <a:t>•  </a:t>
            </a:r>
            <a:r>
              <a:rPr sz="950" b="1">
                <a:solidFill>
                  <a:srgbClr val="000000"/>
                </a:solidFill>
                <a:latin typeface="Arial"/>
              </a:rPr>
              <a:t>Evaluation protocol: </a:t>
            </a:r>
            <a:r>
              <a:rPr sz="950" b="0">
                <a:solidFill>
                  <a:srgbClr val="000000"/>
                </a:solidFill>
                <a:latin typeface="Arial"/>
              </a:rPr>
              <a:t>accuracy on RSVQA and CDVQA test splits, plus a three-way ablation (optical-only, SAR-only, fused) on the BigEarthNet geographic test split.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